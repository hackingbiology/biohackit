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Literature (predicted)</c:v>
                </c:pt>
              </c:strCache>
            </c:strRef>
          </c:tx>
          <c:spPr>
            <a:solidFill>
              <a:srgbClr val="0C877A"/>
            </a:solidFill>
            <a:ln w="38100" cap="flat">
              <a:solidFill>
                <a:srgbClr val="0C87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C877A"/>
              </a:solidFill>
              <a:ln w="9525" cap="flat">
                <a:solidFill>
                  <a:srgbClr val="0C87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follow-up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-0.4</c:v>
                </c:pt>
                <c:pt idx="2">
                  <c:v>-0.9</c:v>
                </c:pt>
                <c:pt idx="3">
                  <c:v>-1.4</c:v>
                </c:pt>
                <c:pt idx="4">
                  <c:v>-1.9</c:v>
                </c:pt>
                <c:pt idx="5">
                  <c:v>-2.2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Cohort (observed)</c:v>
                </c:pt>
              </c:strCache>
            </c:strRef>
          </c:tx>
          <c:spPr>
            <a:solidFill>
              <a:srgbClr val="B06F18"/>
            </a:solidFill>
            <a:ln w="38100" cap="flat">
              <a:solidFill>
                <a:srgbClr val="B06F1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6F18"/>
              </a:solidFill>
              <a:ln w="9525" cap="flat">
                <a:solidFill>
                  <a:srgbClr val="B06F1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follow-up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-0.1</c:v>
                </c:pt>
                <c:pt idx="2">
                  <c:v>-0.7</c:v>
                </c:pt>
                <c:pt idx="3">
                  <c:v>-0.6</c:v>
                </c:pt>
                <c:pt idx="4">
                  <c:v>-1.3</c:v>
                </c:pt>
                <c:pt idx="5">
                  <c:v>-1.1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39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3E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B939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B9398"/>
                    </a:solidFill>
                    <a:latin typeface="Arial"/>
                  </a:rPr>
                  <a:t>Δ biological age (yrs)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3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9636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3152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7TH TIMEPIE LONGEVITY FORUM · BIOHACKER TRACK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150876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spc="100" kern="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BIOHACK.IT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658368" y="3246120"/>
            <a:ext cx="1920240" cy="41148"/>
          </a:xfrm>
          <a:prstGeom prst="roundRect">
            <a:avLst>
              <a:gd name="adj" fmla="val 50000"/>
            </a:avLst>
          </a:prstGeom>
          <a:solidFill>
            <a:srgbClr val="25292C"/>
          </a:solidFill>
          <a:ln w="3175">
            <a:solidFill>
              <a:srgbClr val="2529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566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59636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An open laboratory for longevity.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43891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thousands of individual self-experiments into structured, comparable, open data — with safety engineered in, not bolted 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5321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39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PRESENTED AT</a:t>
            </a:r>
            <a:endParaRPr lang="en-US" sz="1000" dirty="0"/>
          </a:p>
        </p:txBody>
      </p:sp>
      <p:pic>
        <p:nvPicPr>
          <p:cNvPr id="8" name="Image 0" descr="443725_b862e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559552"/>
            <a:ext cx="1417320" cy="4381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04288" y="5632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636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September 12–13, 2026  ·  Shanghai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39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Open source · AGPL-3.0 · Non-profit — Hacking Biology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424160" y="914400"/>
            <a:ext cx="914400" cy="914400"/>
          </a:xfrm>
          <a:prstGeom prst="ellipse">
            <a:avLst/>
          </a:prstGeom>
          <a:solidFill>
            <a:srgbClr val="FFFFFF"/>
          </a:solidFill>
          <a:ln w="146304">
            <a:solidFill>
              <a:srgbClr val="25292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341864" y="1975104"/>
            <a:ext cx="1078992" cy="146304"/>
          </a:xfrm>
          <a:prstGeom prst="roundRect">
            <a:avLst>
              <a:gd name="adj" fmla="val 50000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Longevity intervention is running far ahead of longevity measurement.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2148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already adopt off-label drugs, peptides, HBOT, plasmapheresis. But the protocol lives in spreadsheets, forum posts and chat prompts — not comparable, not followable, not readable by a physician.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3200400"/>
            <a:ext cx="3423818" cy="1737360"/>
          </a:xfrm>
          <a:prstGeom prst="roundRect">
            <a:avLst>
              <a:gd name="adj" fmla="val 5263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83280"/>
            <a:ext cx="29849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130+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29849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biomarkers a serious protocol tracks — blood, DNA methylation, DEXA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83354" y="3200400"/>
            <a:ext cx="3423818" cy="1737360"/>
          </a:xfrm>
          <a:prstGeom prst="roundRect">
            <a:avLst>
              <a:gd name="adj" fmla="val 5263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9386" y="3383280"/>
            <a:ext cx="29849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 = 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39386" y="4160520"/>
            <a:ext cx="29849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isolated self-experiment carries almost no statistical power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08341" y="3200400"/>
            <a:ext cx="3423818" cy="1737360"/>
          </a:xfrm>
          <a:prstGeom prst="roundRect">
            <a:avLst>
              <a:gd name="adj" fmla="val 5263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4373" y="3383280"/>
            <a:ext cx="29849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64373" y="4160520"/>
            <a:ext cx="29849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representation layer for protocol &amp; biomarker across people and labs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257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 Johnson has a lab and a team. Everyone else has a spreadsheet. A thousand N-of-1 on the same protocol, made comparable, are a different scientific object — and it doesn't exist yet.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WHO IS EXPOSED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beginner who copies is the person most at risk.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2286000"/>
            <a:ext cx="3442106" cy="3017520"/>
          </a:xfrm>
          <a:prstGeom prst="roundRect">
            <a:avLst>
              <a:gd name="adj" fmla="val 3030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42032"/>
            <a:ext cx="2930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PRIMARY USER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852928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experienced biohacker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419856"/>
            <a:ext cx="293004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Designs, self-administers, iterates — but the results today are just anecdotes: claimed, not measured, impossible to compare.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4794" y="2286000"/>
            <a:ext cx="3442106" cy="3017520"/>
          </a:xfrm>
          <a:prstGeom prst="roundRect">
            <a:avLst>
              <a:gd name="adj" fmla="val 3030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0826" y="2542032"/>
            <a:ext cx="2930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06F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HIGHEST RISK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30826" y="2852928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beginner who copies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30826" y="3419856"/>
            <a:ext cx="293004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 forum thread or an influencer hyping a compound and starts taking it — no baseline, no safety markers, no measurement.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1221" y="2286000"/>
            <a:ext cx="3442106" cy="3017520"/>
          </a:xfrm>
          <a:prstGeom prst="roundRect">
            <a:avLst>
              <a:gd name="adj" fmla="val 3030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7253" y="2542032"/>
            <a:ext cx="2930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RECIPIENT, NOT USER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47253" y="2852928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treating physician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347253" y="3419856"/>
            <a:ext cx="293004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receives, at best, a handwritten sheet. Deserves a legible, complete view of what is taken and why.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5577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 who copies an off-label compound off a forum thread — without knowing to monitor kidney and liver — is exactly the case where the platform protects health.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MECHANISM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Follow and copy the people who get results — and see their biomarkers.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social dynamic that powers copy-trading in finance, applied to health. The value is not the single datapoint; it is the ability to follow, compare and copy, anchored to structured, public biomarkers rather than anecdote.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 rot="2700000">
            <a:off x="658368" y="3703320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protocol becomes something you can subscribe to  </a:t>
            </a:r>
            <a:pPr indent="0" marL="0"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it carries its safety markers with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rot="2700000">
            <a:off x="658368" y="4480560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compound and intervention gets a thread  </a:t>
            </a:r>
            <a:pPr indent="0" marL="0"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anchored to real, comparable data.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2700000">
            <a:off x="658368" y="5257800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5120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living community is the only quality control  </a:t>
            </a:r>
            <a:pPr indent="0" marL="0"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actually works on self-reported data.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PLATFORM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Document your protocol. Measure it. Share it.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2286000"/>
            <a:ext cx="3442106" cy="3108960"/>
          </a:xfrm>
          <a:prstGeom prst="roundRect">
            <a:avLst>
              <a:gd name="adj" fmla="val 2941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42032"/>
            <a:ext cx="2930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 — DOCUMENT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852928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What you take &amp; do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419856"/>
            <a:ext cx="293004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Substances, therapies, exercise, nutrition — with dose, timing and real cycle schemas. Create from scratch, or copy any public protocol with one click.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4794" y="2286000"/>
            <a:ext cx="3442106" cy="3108960"/>
          </a:xfrm>
          <a:prstGeom prst="roundRect">
            <a:avLst>
              <a:gd name="adj" fmla="val 2941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0826" y="2542032"/>
            <a:ext cx="2930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 — MEASURE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30826" y="2852928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Efficacy &amp; safety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30826" y="3419856"/>
            <a:ext cx="293004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Biomarkers with reference, optimal and safety ranges, plus biological clocks (PhenoAge, epigenetic, glycation). Upload past lab reports, get your history in graphs.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1221" y="2286000"/>
            <a:ext cx="3442106" cy="3108960"/>
          </a:xfrm>
          <a:prstGeom prst="roundRect">
            <a:avLst>
              <a:gd name="adj" fmla="val 2941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7253" y="2542032"/>
            <a:ext cx="29300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 — SHARE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47253" y="2852928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Open by default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347253" y="3419856"/>
            <a:ext cx="293004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your protocol and its outcomes. Follow and copy the people who get results, seeing their public biomarkers — the community is the quality control.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56235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source, free, non-profit — built on the community that already exists, not a forum rebuilt from scratch.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DESIGN PRINCIPLES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Rigor is a design decision, not a disclaimer.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rot="2700000">
            <a:off x="658368" y="230428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167128"/>
            <a:ext cx="488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Describes, never prescribes.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what to measure, never what to take or how much.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rot="2700000">
            <a:off x="6095848" y="230428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5888" y="2167128"/>
            <a:ext cx="488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graded to its evidence.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clinical → observational → animal → in vitro → anecdotal.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2700000">
            <a:off x="658368" y="353872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3401568"/>
            <a:ext cx="488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writes words, never numbers.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Extraction, mapping and thresholds are deterministic and reproducible.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rot="2700000">
            <a:off x="6095848" y="353872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5888" y="3401568"/>
            <a:ext cx="488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fails loudly.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drops an item silently — it shows the diff between input and output.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rot="2700000">
            <a:off x="658368" y="477316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4636008"/>
            <a:ext cx="488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stops instead of guessing.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data is insufficient, it says so — no approximate index.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2700000">
            <a:off x="6095848" y="477316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5888" y="4636008"/>
            <a:ext cx="488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data, heightened consent.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identifying data is shared only behind an explicit, informed gate.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DATA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Three questions, deliberately kept apart.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2194560"/>
            <a:ext cx="3442106" cy="2011680"/>
          </a:xfrm>
          <a:prstGeom prst="roundRect">
            <a:avLst>
              <a:gd name="adj" fmla="val 4545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5059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TestingProtocol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29300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measure, and when. A versioned set of measures and timepoints.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4794" y="2194560"/>
            <a:ext cx="3442106" cy="2011680"/>
          </a:xfrm>
          <a:prstGeom prst="roundRect">
            <a:avLst>
              <a:gd name="adj" fmla="val 4545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0826" y="245059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TreatmentPlan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30826" y="3017520"/>
            <a:ext cx="29300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take and do. Versioned interventions — self-managed or physician-assigned.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1221" y="2194560"/>
            <a:ext cx="3442106" cy="2011680"/>
          </a:xfrm>
          <a:prstGeom prst="roundRect">
            <a:avLst>
              <a:gd name="adj" fmla="val 4545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7253" y="245059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Goal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347253" y="3017520"/>
            <a:ext cx="29300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want to change. Mapped onto the Hallmarks of Aging.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4526280"/>
            <a:ext cx="10874959" cy="1371600"/>
          </a:xfrm>
          <a:prstGeom prst="roundRect">
            <a:avLst>
              <a:gd name="adj" fmla="val 6667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70916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Substance  →  SafetyRule  →  Biomarker  →  Measurement  →  Dashboard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" y="525780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3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you take” and “how you are” are the same data structure, read from two sides.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platform, one model.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capabilities, built in the open and grown by community review. Six families: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468880"/>
            <a:ext cx="3442106" cy="1234440"/>
          </a:xfrm>
          <a:prstGeom prst="roundRect">
            <a:avLst>
              <a:gd name="adj" fmla="val 7407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2491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Protocols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9300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· copy · import · versioned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4794" y="2468880"/>
            <a:ext cx="3442106" cy="1234440"/>
          </a:xfrm>
          <a:prstGeom prst="roundRect">
            <a:avLst>
              <a:gd name="adj" fmla="val 7407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0826" y="272491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Blood Layer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630826" y="3291840"/>
            <a:ext cx="29300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biomarkers · clocks · deterministic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1221" y="2468880"/>
            <a:ext cx="3442106" cy="1234440"/>
          </a:xfrm>
          <a:prstGeom prst="roundRect">
            <a:avLst>
              <a:gd name="adj" fmla="val 7407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7253" y="272491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Safety guardrails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347253" y="3291840"/>
            <a:ext cx="29300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· inheritance · dose check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886200"/>
            <a:ext cx="3442106" cy="1234440"/>
          </a:xfrm>
          <a:prstGeom prst="roundRect">
            <a:avLst>
              <a:gd name="adj" fmla="val 7407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4223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Community &amp; Studies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29300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follow/copy · cohorts · N-of-1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74794" y="3886200"/>
            <a:ext cx="3442106" cy="1234440"/>
          </a:xfrm>
          <a:prstGeom prst="roundRect">
            <a:avLst>
              <a:gd name="adj" fmla="val 7407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0826" y="414223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Open Data &amp; Standards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630826" y="4709160"/>
            <a:ext cx="29300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LOINC/UCUM · FHIR/OMOP · clonable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91221" y="3886200"/>
            <a:ext cx="3442106" cy="1234440"/>
          </a:xfrm>
          <a:prstGeom prst="roundRect">
            <a:avLst>
              <a:gd name="adj" fmla="val 7407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7253" y="414223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AI, Evidence &amp; Provenance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347253" y="4709160"/>
            <a:ext cx="29300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AI4L · Evipedia · attribution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" y="5532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Blood Layer and the Daily Log ship first — useful to a single person, with no community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WHAT NO ONE ELSE CAN BUILD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Literature predicts −2.2 years. The 340 who did it show this.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58368" y="2148840"/>
          <a:ext cx="7680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13648" y="2148840"/>
            <a:ext cx="2919679" cy="3291840"/>
          </a:xfrm>
          <a:prstGeom prst="roundRect">
            <a:avLst>
              <a:gd name="adj" fmla="val 3132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69680" y="2404872"/>
            <a:ext cx="2407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ORIGINALITY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869680" y="2715768"/>
            <a:ext cx="2407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Outcome ↔ Biomarker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869680" y="3282696"/>
            <a:ext cx="2407615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draw the first line — it is in the literature. Only a platform with a living community and shared, standards-coded biomarkers can draw the second, and put them side by side.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" y="56235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93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Illustrative. The link between an outcome and its biomarker is what makes the two columns comparable.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HARM REDUCTION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Follow a protocol — inherit its safety.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 rot="2700000">
            <a:off x="658368" y="240487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286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baseline  </a:t>
            </a:r>
            <a:pPr indent="0" marL="0"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can follow a protocol at all — plus an explicit risk acknowledgment.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rot="2700000">
            <a:off x="658368" y="324612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3127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markers inherited automatically  </a:t>
            </a:r>
            <a:pPr indent="0" marL="0"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every active compound — safety is never opt-in.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 rot="2700000">
            <a:off x="658368" y="4087368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396849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 sanity check  </a:t>
            </a:r>
            <a:pPr indent="0" marL="0"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the extra zero — plausibility validation of a number, not clinical advice.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2700000">
            <a:off x="658368" y="4928616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480974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is a safety gap  </a:t>
            </a:r>
            <a:pPr indent="0" marL="0"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“rapamycin active for 94 days, liver panel overdue by 34.”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58521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module that justifies the project. Biohackers already take the risk today — without any of it.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PHASE 1 · THE PRODUCT YOU CAN DESCRIBE IN PUBLIC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Upload your past lab reports. Get your clinical history in graphs. Free.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468880"/>
            <a:ext cx="5300320" cy="2468880"/>
          </a:xfrm>
          <a:prstGeom prst="roundRect">
            <a:avLst>
              <a:gd name="adj" fmla="val 3704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24912"/>
            <a:ext cx="478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HARD BOUNDARY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3035808"/>
            <a:ext cx="478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LLM writes words, never numbers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602736"/>
            <a:ext cx="4788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Extraction, mapping and thresholds are deterministic and reproducible. The model only produces the plain-language narration — generated once and cached.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3008" y="2468880"/>
            <a:ext cx="5300320" cy="2468880"/>
          </a:xfrm>
          <a:prstGeom prst="roundRect">
            <a:avLst>
              <a:gd name="adj" fmla="val 3704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040" y="2724912"/>
            <a:ext cx="478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BUILT FOR AGGREGATION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89040" y="3035808"/>
            <a:ext cx="478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LOINC + UCUM + method, every value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89040" y="3602736"/>
            <a:ext cx="4788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architecture compatible with releasing open data. Three ranges per analyte: laboratory reference, longevity-optimal, safety.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5257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sentence you can say on television without pronouncing the word “biohacking”, with no regulatory exposure — and it works with a single user and no community.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BUILT FOR HACKERS · OPEN BY DEFAULT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Share your protocol. Share your outcomes. In public.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2286000"/>
            <a:ext cx="3442106" cy="2834640"/>
          </a:xfrm>
          <a:prstGeom prst="roundRect">
            <a:avLst>
              <a:gd name="adj" fmla="val 3226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4203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Public is the point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9300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Server-hosted, always on, public by default. Your protocol and its biomarker outcomes are meant to be seen, followed and copied — how the community learns faster than any of us alone.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4794" y="2286000"/>
            <a:ext cx="3442106" cy="2834640"/>
          </a:xfrm>
          <a:prstGeom prst="roundRect">
            <a:avLst>
              <a:gd name="adj" fmla="val 3226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0826" y="254203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Your data becomes evidence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30826" y="3108960"/>
            <a:ext cx="29300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value you share, standards-coded, joins an open dataset on interventions no trial will ever fund. Contributing is the invitation.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1221" y="2286000"/>
            <a:ext cx="3442106" cy="2834640"/>
          </a:xfrm>
          <a:prstGeom prst="roundRect">
            <a:avLst>
              <a:gd name="adj" fmla="val 3226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7253" y="254203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Agent Access · MCP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347253" y="3108960"/>
            <a:ext cx="29300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read-only token so you — or anyone you allow — can query the data with an agent: Claude, Cursor, a Nostr bot. No competitor will ship this.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53949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Walled gardens are impossible by construction: AGPL means anyone running it as a service must open the source. Fork it.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BUILD NOTHING THAT ALREADY EXISTS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Standards, not silos.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2286000"/>
            <a:ext cx="3442106" cy="2743200"/>
          </a:xfrm>
          <a:prstGeom prst="roundRect">
            <a:avLst>
              <a:gd name="adj" fmla="val 3333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4203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Speak the standards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93004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HL7 FHIR internally; OMOP CDM export for research — so what you produce is real research data with proper coding, not another wellness silo.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4794" y="2286000"/>
            <a:ext cx="3442106" cy="2743200"/>
          </a:xfrm>
          <a:prstGeom prst="roundRect">
            <a:avLst>
              <a:gd name="adj" fmla="val 3333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0826" y="254203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Stand on open shoulders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30826" y="3108960"/>
            <a:ext cx="293004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from Evipedia (Forever Healthy, CC BY 4.0); AI reviews via the AI4L audit framework; component reuse from get-based — all attributed, notified, contributed back.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1221" y="2286000"/>
            <a:ext cx="3442106" cy="2743200"/>
          </a:xfrm>
          <a:prstGeom prst="roundRect">
            <a:avLst>
              <a:gd name="adj" fmla="val 3333"/>
            </a:avLst>
          </a:prstGeom>
          <a:solidFill>
            <a:srgbClr val="F1F4F3"/>
          </a:solidFill>
          <a:ln w="12700">
            <a:solidFill>
              <a:srgbClr val="DDE3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7253" y="2542032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Existing community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347253" y="3108960"/>
            <a:ext cx="293004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forum is not rebuilt: Rapamycin News is already there. Link first, cohorts second — never the reverse.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5349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29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data released only with cohort thresholds and declared provenance. A small clean dataset beats a large uncomparable one.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FROM ONE PERSON TO A DISTRIBUTED TRIAL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An open, grassroots, distributed longevity trial — producing data.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9365" y="2880360"/>
            <a:ext cx="9252966" cy="18288"/>
          </a:xfrm>
          <a:prstGeom prst="roundRect">
            <a:avLst>
              <a:gd name="adj" fmla="val 50000"/>
            </a:avLst>
          </a:prstGeom>
          <a:solidFill>
            <a:srgbClr val="DDE3E1"/>
          </a:solidFill>
          <a:ln w="3175">
            <a:solidFill>
              <a:srgbClr val="DDE3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7069" y="2798064"/>
            <a:ext cx="164592" cy="164592"/>
          </a:xfrm>
          <a:prstGeom prst="ellipse">
            <a:avLst/>
          </a:prstGeom>
          <a:solidFill>
            <a:srgbClr val="0C877A"/>
          </a:solidFill>
          <a:ln w="19050">
            <a:solidFill>
              <a:srgbClr val="0C87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154680"/>
            <a:ext cx="1621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PHASE 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8368" y="3401568"/>
            <a:ext cx="16219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Foundations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3931920"/>
            <a:ext cx="162199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model, seed catalogue, biomarker registry, safety rules.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37662" y="27980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87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08961" y="3154680"/>
            <a:ext cx="1621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PHASE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08961" y="3401568"/>
            <a:ext cx="16219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Useful to one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08961" y="3931920"/>
            <a:ext cx="162199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Layer, daily log, doctor sheet — value in ten minutes, zero spend.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88255" y="27980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87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9554" y="3154680"/>
            <a:ext cx="1621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PHASE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59554" y="3401568"/>
            <a:ext cx="16219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Useful to many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59554" y="3931920"/>
            <a:ext cx="162199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protocols, follow &amp; copy, safety guardrails, N-of-1 studies.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38848" y="27980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87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0148" y="3154680"/>
            <a:ext cx="1621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PHASE 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0148" y="3401568"/>
            <a:ext cx="16219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Daily operations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10148" y="3931920"/>
            <a:ext cx="162199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Pills, therapeutics, exercise &amp; nutrition scheduling; procurement.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89441" y="27980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87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0741" y="3154680"/>
            <a:ext cx="1621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PHASE 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60741" y="3401568"/>
            <a:ext cx="16219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Research layer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60741" y="3931920"/>
            <a:ext cx="162199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Cohorts, literature-vs-observed, OMOP export, first open-data release.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640035" y="27980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87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11334" y="3154680"/>
            <a:ext cx="1621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PHASE 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11334" y="3401568"/>
            <a:ext cx="16219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Distributed trials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911334" y="3931920"/>
            <a:ext cx="162199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Pre-registered studies on shared protocols — a collective read-out.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9728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INVITATION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Everyone buys anti-aging.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C87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Almost no one measures it.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3200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59636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Let's measure it — together, in the open.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43434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96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infrastructure and open data for the longevity community — fork it, run it local, own your data. The community already exists; now it gets its instrument.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5532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100" kern="0" dirty="0">
                <a:solidFill>
                  <a:srgbClr val="25292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BIOHACK.IT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58368" y="6053328"/>
            <a:ext cx="1280160" cy="32004"/>
          </a:xfrm>
          <a:prstGeom prst="roundRect">
            <a:avLst>
              <a:gd name="adj" fmla="val 50000"/>
            </a:avLst>
          </a:prstGeom>
          <a:solidFill>
            <a:srgbClr val="25292C"/>
          </a:solidFill>
          <a:ln w="3175">
            <a:solidFill>
              <a:srgbClr val="252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21408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939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HACKING BIOLOGY · Non-profit · AGPL-3.0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447020" y="1005840"/>
            <a:ext cx="868680" cy="868680"/>
          </a:xfrm>
          <a:prstGeom prst="ellipse">
            <a:avLst/>
          </a:prstGeom>
          <a:solidFill>
            <a:srgbClr val="FFFFFF"/>
          </a:solidFill>
          <a:ln w="138989">
            <a:solidFill>
              <a:srgbClr val="2529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8839" y="2013509"/>
            <a:ext cx="1025042" cy="138989"/>
          </a:xfrm>
          <a:prstGeom prst="roundRect">
            <a:avLst>
              <a:gd name="adj" fmla="val 50000"/>
            </a:avLst>
          </a:prstGeom>
          <a:solidFill>
            <a:srgbClr val="0C877A"/>
          </a:solidFill>
          <a:ln w="3175">
            <a:solidFill>
              <a:srgbClr val="0C877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Hacking Biology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Biohack.it - An Open Laboratory for Longevity</dc:title>
  <dc:subject>Biohack.it - An Open Laboratory for Longevity</dc:subject>
  <dc:creator>Hacking Biology</dc:creator>
  <cp:lastModifiedBy>Hacking Biology</cp:lastModifiedBy>
  <cp:revision>1</cp:revision>
  <dcterms:created xsi:type="dcterms:W3CDTF">2026-08-18T16:33:21Z</dcterms:created>
  <dcterms:modified xsi:type="dcterms:W3CDTF">2026-08-18T16:33:21Z</dcterms:modified>
</cp:coreProperties>
</file>