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Literature (predicted)</c:v>
                </c:pt>
              </c:strCache>
            </c:strRef>
          </c:tx>
          <c:spPr>
            <a:solidFill>
              <a:srgbClr val="0C877A"/>
            </a:solidFill>
            <a:ln w="38100" cap="flat">
              <a:solidFill>
                <a:srgbClr val="0C87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C877A"/>
              </a:solidFill>
              <a:ln w="9525" cap="flat">
                <a:solidFill>
                  <a:srgbClr val="0C87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-0.4</c:v>
                </c:pt>
                <c:pt idx="2">
                  <c:v>-0.9</c:v>
                </c:pt>
                <c:pt idx="3">
                  <c:v>-1.4</c:v>
                </c:pt>
                <c:pt idx="4">
                  <c:v>-1.9</c:v>
                </c:pt>
                <c:pt idx="5">
                  <c:v>-2.2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 (observed)</c:v>
                </c:pt>
              </c:strCache>
            </c:strRef>
          </c:tx>
          <c:spPr>
            <a:solidFill>
              <a:srgbClr val="B3822A"/>
            </a:solidFill>
            <a:ln w="38100" cap="flat">
              <a:solidFill>
                <a:srgbClr val="B382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822A"/>
              </a:solidFill>
              <a:ln w="9525" cap="flat">
                <a:solidFill>
                  <a:srgbClr val="B382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-0.1</c:v>
                </c:pt>
                <c:pt idx="2">
                  <c:v>-0.7</c:v>
                </c:pt>
                <c:pt idx="3">
                  <c:v>-0.6</c:v>
                </c:pt>
                <c:pt idx="4">
                  <c:v>-1.3</c:v>
                </c:pt>
                <c:pt idx="5">
                  <c:v>-1.1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3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B939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B9398"/>
                    </a:solidFill>
                    <a:latin typeface="Arial"/>
                  </a:rPr>
                  <a:t>Δ biological age (yrs)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9636A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315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7TH TIMEPIE LONGEVITY FORUM · BIOHACKER TRACK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spc="1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8400" dirty="0"/>
          </a:p>
        </p:txBody>
      </p:sp>
      <p:sp>
        <p:nvSpPr>
          <p:cNvPr id="4" name="Shape 2"/>
          <p:cNvSpPr/>
          <p:nvPr/>
        </p:nvSpPr>
        <p:spPr>
          <a:xfrm>
            <a:off x="658368" y="3090672"/>
            <a:ext cx="1920240" cy="41148"/>
          </a:xfrm>
          <a:prstGeom prst="roundRect">
            <a:avLst>
              <a:gd name="adj" fmla="val 50000"/>
            </a:avLst>
          </a:prstGeom>
          <a:solidFill>
            <a:srgbClr val="25292C"/>
          </a:solidFill>
          <a:ln w="3175">
            <a:solidFill>
              <a:srgbClr val="2529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4015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Turn self-experimentation into evidence.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40416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infrastructure for structured human self-experimentation.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2303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PRESENTED AT</a:t>
            </a:r>
            <a:endParaRPr lang="en-US" sz="1000" dirty="0"/>
          </a:p>
        </p:txBody>
      </p:sp>
      <p:pic>
        <p:nvPicPr>
          <p:cNvPr id="8" name="Image 0" descr="443725_b862e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68112"/>
            <a:ext cx="1417320" cy="4381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304288" y="5541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September 12–13, 2026  ·  Shanghai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58368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source · AGPL-3.0 · Non-profit — Hacking Biology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24160" y="914400"/>
            <a:ext cx="914400" cy="914400"/>
          </a:xfrm>
          <a:prstGeom prst="ellipse">
            <a:avLst/>
          </a:prstGeom>
          <a:solidFill>
            <a:srgbClr val="FFFFFF"/>
          </a:solidFill>
          <a:ln w="146304">
            <a:solidFill>
              <a:srgbClr val="25292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41864" y="1975104"/>
            <a:ext cx="1078992" cy="146304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Longevity intervention is running far ahead of longevity measurement.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already adopt off-label drugs, peptides, HBOT, plasmapheresis. But the protocol lives in spreadsheets, forum posts and chat prompts — not comparable, not followable, not readable by a physician.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130+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a serious protocol tracks — blood, DNA methylation, DEXA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3354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9386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 =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39386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isolated self-experiment carries almost no statistical power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08341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4373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164373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representation layer for protocol &amp; biomarker across people and labs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Bryan Johnson has a lab and a team. Everyone else has a spreadsheet. A thousand N-of-1 on the same protocol, made comparable, are a different scientific object — and it doesn't exist yet.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WHO IS EXPOSED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 is the person most at risk.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PRIMARY USER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experienced biohacker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Designs, self-administers, iterates — but the results today are just anecdotes: claimed, not measured, impossible to compare.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822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HIGHEST RISK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 forum thread or an influencer hyping a compound and starts taking it — no baseline, no safety markers, no measurement.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RECIPIENT, NOT USER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treating physician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receives, at best, a handwritten sheet. Deserves a legible, complete view of what is taken and why.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577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who copies an off-label compound off a forum thread — without knowing to monitor kidney and liver — is exactly the case where the platform protects health.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MAKES IT COMPUTABLE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same protocol, written three ways, is one entity.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20116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whole project in three lines. Our real asset is not an app — it is standardising something nobody has standardised.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10874959" cy="2286000"/>
          </a:xfrm>
          <a:prstGeom prst="roundRect">
            <a:avLst>
              <a:gd name="adj" fmla="val 480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" y="301752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"rapamycin 6mg weekly"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"sirolimus 6 mg every Sunday"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"Rapa 6 mg q7d"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70448" y="3429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──▶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84848" y="3401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RxNorm 35302 · 6 mg · every 7 days · pulsed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9848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human-readable, research-useless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84848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computable entity, linked to your biomarkers over time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53035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ten thousand times and a forum's worth of prose becomes a dataset.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From one intervention to shared evidence.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176479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350008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Intervention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423160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79192" y="2331720"/>
            <a:ext cx="1659636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79192" y="2350008"/>
            <a:ext cx="1659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38828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4860" y="2331720"/>
            <a:ext cx="229057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2350008"/>
            <a:ext cx="22905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Individual effect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85432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41464" y="2331720"/>
            <a:ext cx="1133856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1464" y="2350008"/>
            <a:ext cx="1133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Cohort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75320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531352" y="2331720"/>
            <a:ext cx="1344168" cy="475488"/>
          </a:xfrm>
          <a:prstGeom prst="roundRect">
            <a:avLst>
              <a:gd name="adj" fmla="val 50000"/>
            </a:avLst>
          </a:prstGeom>
          <a:solidFill>
            <a:srgbClr val="E7F3F1"/>
          </a:solidFill>
          <a:ln w="12700">
            <a:solidFill>
              <a:srgbClr val="0C87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31352" y="2350008"/>
            <a:ext cx="1344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Evidence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rot="2700000">
            <a:off x="658368" y="324612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0906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take and do — dose, timing, real cycle schema, versioned with every change.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 rot="2700000">
            <a:off x="658368" y="384962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694176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standards-coded biomarkers (LOINC/UCUM) with lab, method and provenance attached.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 rot="2700000">
            <a:off x="658368" y="445312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297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effect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before/after, bound to the protocol version that was active at the time.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 rot="2700000">
            <a:off x="658368" y="50566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90118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running the same protocol, weighted by adherence and data completeness.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 rot="2700000">
            <a:off x="658368" y="566013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0468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open dataset the community — and researchers — can actually interrogate.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PLATFORM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Document your protocol. Measure it. Share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DOCUMENT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you take &amp; do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Substances, therapies, exercise, nutrition — with dose, timing and real cycle schemas. Create from scratch, or copy any public protocol with one click.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 — MEASURE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Efficacy &amp; safety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with reference, optimal and safety ranges, plus biological clocks (PhenoAge, epigenetic, glycation). Upload past lab reports, get your history in graphs.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 — SHARE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by default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your protocol and its outcomes. Quality comes from three layers: deterministic validation, community review, expert oversight.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source, free, non-profit — built on the community that already exists, not a forum rebuilt from scratch.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FOR HACKERS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GitHub for biological self-experimentation.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ever used version control, you already know how this works.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26060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50008" y="2606040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8368" y="3063240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17296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50008" y="3172968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copying someone's protocol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3630168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7398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50008" y="3739896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dose change, with its reason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4197096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3068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50008" y="4306824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version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8368" y="4764024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8737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50008" y="4873752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monitoring — baseline, inherited markers, overdue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8368" y="5330952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7288" y="26060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78928" y="2606040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contested claim, discussed in public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187288" y="3063240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7288" y="317296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telemetry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878928" y="3172968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biomarkers over time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87288" y="3630168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7288" y="37398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878928" y="3739896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doctor sheet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187288" y="4197096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87288" y="43068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878928" y="4306824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open research output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187288" y="4764024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DATA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Three questions, deliberately kept apart.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TestingProtocol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measure, and when. A versioned set of measures and timepoints.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TreatmentPlan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take and do. Versioned interventions — self-managed or physician-assigned.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Goal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want to change. Mapped onto the Hallmarks of Aging.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26280"/>
            <a:ext cx="10874959" cy="1371600"/>
          </a:xfrm>
          <a:prstGeom prst="roundRect">
            <a:avLst>
              <a:gd name="adj" fmla="val 666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70916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Substance  →  SafetyRule  →  Biomarker  →  Measurement  →  Dashboard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8368" y="525780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you take” and “how you are” are the same data structure, read from two sides.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HARM REDUCTION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Follow a protocol — inherit its safety.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 rot="2700000">
            <a:off x="658368" y="242316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6771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baseline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can follow a protocol at all — plus an explicit risk acknowledgment.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 rot="2700000">
            <a:off x="658368" y="326440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108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markers inherited automatically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every active compound — safety is never opt-in.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2700000">
            <a:off x="658368" y="410565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95020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sanity check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the extra zero — plausibility validation of a number, not clinical advice.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rot="2700000">
            <a:off x="658368" y="494690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791456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is a safety gap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“rapamycin active for 94 days, liver panel overdue by 34.”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5852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module that justifies the project. Biohackers already take the risk today — without any of it.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MVP · WHAT SHIPS FIRST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Upload your past lab reports. Get your clinical history in graphs. Free.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HARD BOUNDARY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LLM writes words, never numbers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Extraction, mapping and thresholds are deterministic and reproducible. The model only produces the plain-language narration — generated once and cached.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300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8904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FOR AGGREGATION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8904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LOINC + UCUM + method, every value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8904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architecture compatible with releasing open data. Three ranges per analyte: laboratory reference, longevity-optimal, safety — each with its source.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sentence you can say on television without pronouncing the word “biohacking”, with no regulatory exposure — and it works with a single user and no community.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THIS IS — AND WHAT IT IS NOT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 are not a clinical trial, and we say so first.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self-managed, self-declared, self-selected experimentation. No randomisation, no blinding, no controlled conditions. People change protocol halfway, measure irregularly, and drop 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10874959" cy="1417320"/>
          </a:xfrm>
          <a:prstGeom prst="roundRect">
            <a:avLst>
              <a:gd name="adj" fmla="val 7742"/>
            </a:avLst>
          </a:prstGeom>
          <a:solidFill>
            <a:srgbClr val="F1F4F3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3108960"/>
            <a:ext cx="101434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comparison is not biohack.it versus a clinical trial — we lose that one, and we are not trying to win it.
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biohack.it versus what exists today: a dose written in prose, a screenshot of a lab report, a spreadsheet nobody else can open.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 rot="2700000">
            <a:off x="658368" y="46634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5079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carries its confidence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value, uncertainty, provenance and evidence level — or it is not shown.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2700000">
            <a:off x="658368" y="52303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50749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Observed, never caused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“among qualifying users exposed to X, the observed change was Y.”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 rot="2700000">
            <a:off x="658368" y="579729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64184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results are welcome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tried X. Nothing happened.” — the data biohacking always loses.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NO ONE ELSE CAN BUILD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the literature predicts, beside what practitioners actually show.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48840"/>
          <a:ext cx="7680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613648" y="2148840"/>
            <a:ext cx="2919679" cy="3291840"/>
          </a:xfrm>
          <a:prstGeom prst="roundRect">
            <a:avLst>
              <a:gd name="adj" fmla="val 3132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69680" y="2404872"/>
            <a:ext cx="2407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ORIGINALITY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869680" y="271576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Outcome ↔ Biomarker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869680" y="3282696"/>
            <a:ext cx="2407615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draw the first line — it is in the literature. Only a platform with a living community and shared, standards-coded biomarkers can draw the second, and put them side by side.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We report what was observed in a self-selected group — never that the intervention caused it.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BY DEFAULT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 first, linked data second, API third.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SELF-GENERATED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&amp; linked data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public — profiles, protocols, treatments, measurements — is released as a clonable snapshot, coded and linked, sufficient to seed an independent instance.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 API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documented endpoint returning de-identified, methodologically annotated cohort data. Ask for an intervention and a biomarker, get an answer with its caveats attached.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BY CONSTRUCTION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Impossible to enclose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AGPL-3.0: anyone running it as a service must open the source. Fork it, self-host it, keep the community's data in the community's hands.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394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Standards, not silos: HL7 FHIR internally, OMOP for research export, LOINC/UCUM for analytes — so what you produce is research data, not another wellness silo.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IN THE OPEN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whole specification is public before the first line of product.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031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capabilities, 140+ requirements — protocols, biomarkers, safety, community, evidence and open data — browsable at biohack.it/specs, growing with community review.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Protocols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· copy · import · versioned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Blood Layer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630826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· clocks · deterministic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1221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7253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Safety guardrails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347253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· inheritance · dose check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Community &amp; Studies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14400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follow/copy · cohorts · N-of-1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74794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0826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 &amp; Standards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30826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LOINC/UCUM · FHIR/OMOP · clonable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91221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47253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AI, Evidence &amp; Provenance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347253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AI4L · Evipedia · attribution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5852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Specifying broadly costs little. Building broadly costs everything — so what we build first is deliberately narrow.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MVP FIRST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Breadth in thinking, discipline in shipping.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469365" y="2880360"/>
            <a:ext cx="9252966" cy="18288"/>
          </a:xfrm>
          <a:prstGeom prst="roundRect">
            <a:avLst>
              <a:gd name="adj" fmla="val 50000"/>
            </a:avLst>
          </a:prstGeom>
          <a:solidFill>
            <a:srgbClr val="DDE3E1"/>
          </a:solidFill>
          <a:ln w="3175">
            <a:solidFill>
              <a:srgbClr val="DDE3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7069" y="2798064"/>
            <a:ext cx="164592" cy="164592"/>
          </a:xfrm>
          <a:prstGeom prst="ellipse">
            <a:avLst/>
          </a:prstGeom>
          <a:solidFill>
            <a:srgbClr val="0C877A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Foundations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model, biomarker registry, coded catalogue, safety rules.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37662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0896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MVP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0896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one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0896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· Blood Layer · Safety · Doctor sheet.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825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955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5955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Adherence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35955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log — thirty seconds a day.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38848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014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014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many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1014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protocols, follow &amp; copy, pre-registered N-of-1.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89441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074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6074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6074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Cohorts, open &amp; linked data, then a research API.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64003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1133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DESTINATION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91133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Distributed trials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91133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protocols, endpoints declared in advance.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58064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without regret: procurement, advanced nutrition, therapeutics scheduling, genomics beyond import, agent access.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JOIN US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Build this with us.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8745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open infrastructure, and it is early. Every one of these roles is genuinely open — and each one changes what the project becomes.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Biohackers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59536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experience into the specification, and your protocols and measurements into the software.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73593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4761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Software hackers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074761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it. AGPL, public specification, open issues — written down before it is written in code.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88819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89987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Researchers &amp; scientists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289987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us honest on validity, uncertainty and evidence — while keeping it usable by a beginner.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04044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05212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Longevity enthusiasts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05212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Volunteer to spread it: community, translation, events. A tool nobody knows about produces no data.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19270" y="2697480"/>
            <a:ext cx="2014057" cy="2651760"/>
          </a:xfrm>
          <a:prstGeom prst="roundRect">
            <a:avLst>
              <a:gd name="adj" fmla="val 454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20438" y="2907792"/>
            <a:ext cx="161172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Fundraisers &amp; philanthropy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720438" y="3657600"/>
            <a:ext cx="161172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funding pipeline — grants and philanthropy — so it never has to become commercial.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which of the five you are — and what you would like to work on.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GET IN TOUCH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Contacts &amp; references.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2788920" cy="3703320"/>
          </a:xfrm>
          <a:prstGeom prst="roundRect">
            <a:avLst>
              <a:gd name="adj" fmla="val 3279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Telegram Group Chat</a:t>
            </a:r>
            <a:endParaRPr lang="en-US" sz="1200" dirty="0"/>
          </a:p>
        </p:txBody>
      </p:sp>
      <p:pic>
        <p:nvPicPr>
          <p:cNvPr id="6" name="Image 0" descr="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907792"/>
            <a:ext cx="1874520" cy="1874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495604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Scan, or open  t.me/+0qg9-HC4Nx45OTI8  — project updates and open discussion.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767328" y="2286000"/>
            <a:ext cx="2788920" cy="3703320"/>
          </a:xfrm>
          <a:prstGeom prst="roundRect">
            <a:avLst>
              <a:gd name="adj" fmla="val 3279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95928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WeChat 微信</a:t>
            </a:r>
            <a:endParaRPr lang="en-US" sz="1200" dirty="0"/>
          </a:p>
        </p:txBody>
      </p:sp>
      <p:pic>
        <p:nvPicPr>
          <p:cNvPr id="10" name="Image 1" descr="wecha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2907792"/>
            <a:ext cx="1874520" cy="18745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95928" y="495604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add Fabio — he will add you to the biohack.it group chat.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76288" y="2286000"/>
            <a:ext cx="4657039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168896" y="2606040"/>
            <a:ext cx="4071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EMAIL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168896" y="2843784"/>
            <a:ext cx="40718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research@hackingbiology.com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168896" y="3474720"/>
            <a:ext cx="4071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WEBSITE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168896" y="3712464"/>
            <a:ext cx="40718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7168896" y="4343400"/>
            <a:ext cx="4071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SOURCE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168896" y="4581144"/>
            <a:ext cx="40718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github.com/hackingbiology/biohackit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7168896" y="5212080"/>
            <a:ext cx="4071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COMMUNITY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168896" y="5449824"/>
            <a:ext cx="40718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rapamycin.news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10564063" y="5074920"/>
            <a:ext cx="566928" cy="566928"/>
          </a:xfrm>
          <a:prstGeom prst="ellipse">
            <a:avLst/>
          </a:prstGeom>
          <a:solidFill>
            <a:srgbClr val="FFFFFF"/>
          </a:solidFill>
          <a:ln w="90708">
            <a:solidFill>
              <a:srgbClr val="25292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0513040" y="5732556"/>
            <a:ext cx="668975" cy="90708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INVITATION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Everyone buys anti-aging.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Almost no one measures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200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Let's measure it — together, in the open.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8368" y="43434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infrastructure for structured human self-experimentation — fork it, self-host it, own your data. The community already exists; now it gets its instrument.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532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pc="1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58368" y="6053328"/>
            <a:ext cx="1280160" cy="32004"/>
          </a:xfrm>
          <a:prstGeom prst="roundRect">
            <a:avLst>
              <a:gd name="adj" fmla="val 50000"/>
            </a:avLst>
          </a:prstGeom>
          <a:solidFill>
            <a:srgbClr val="25292C"/>
          </a:solidFill>
          <a:ln w="3175">
            <a:solidFill>
              <a:srgbClr val="252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5943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 OPEN LABORATORY FOR LONGEVITY  ·  NON-PROFIT  ·  AGPL-3.0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447020" y="1005840"/>
            <a:ext cx="868680" cy="868680"/>
          </a:xfrm>
          <a:prstGeom prst="ellipse">
            <a:avLst/>
          </a:prstGeom>
          <a:solidFill>
            <a:srgbClr val="FFFFFF"/>
          </a:solidFill>
          <a:ln w="138989">
            <a:solidFill>
              <a:srgbClr val="2529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8839" y="2013509"/>
            <a:ext cx="1025042" cy="138989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Hacking Biology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Biohack.it - An Open Laboratory for Longevity</dc:title>
  <dc:subject>Biohack.it - Open infrastructure for structured human self-experimentation</dc:subject>
  <dc:creator>Hacking Biology</dc:creator>
  <cp:lastModifiedBy>Hacking Biology</cp:lastModifiedBy>
  <cp:revision>1</cp:revision>
  <dcterms:created xsi:type="dcterms:W3CDTF">2026-08-19T11:46:56Z</dcterms:created>
  <dcterms:modified xsi:type="dcterms:W3CDTF">2026-08-19T11:46:56Z</dcterms:modified>
</cp:coreProperties>
</file>